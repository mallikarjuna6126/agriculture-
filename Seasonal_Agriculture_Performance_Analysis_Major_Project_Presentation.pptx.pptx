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rebuchet MS" charset="1" panose="020B0603020202020204"/>
      <p:regular r:id="rId20"/>
    </p:embeddedFont>
    <p:embeddedFont>
      <p:font typeface="Trebuchet MS Bold" charset="1" panose="020B0703020202020204"/>
      <p:regular r:id="rId21"/>
    </p:embeddedFont>
    <p:embeddedFont>
      <p:font typeface="Trebuchet MS Bold Italics" charset="1" panose="020B070302020209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10463" y="2074212"/>
            <a:ext cx="1844345" cy="1589961"/>
            <a:chOff x="0" y="0"/>
            <a:chExt cx="2459126" cy="2119948"/>
          </a:xfrm>
        </p:grpSpPr>
        <p:sp>
          <p:nvSpPr>
            <p:cNvPr name="Freeform 30" id="30"/>
            <p:cNvSpPr/>
            <p:nvPr/>
          </p:nvSpPr>
          <p:spPr>
            <a:xfrm flipH="false" flipV="false" rot="0">
              <a:off x="0" y="0"/>
              <a:ext cx="2459101" cy="2119884"/>
            </a:xfrm>
            <a:custGeom>
              <a:avLst/>
              <a:gdLst/>
              <a:ahLst/>
              <a:cxnLst/>
              <a:rect r="r" b="b" t="t" l="l"/>
              <a:pathLst>
                <a:path h="2119884" w="2459101">
                  <a:moveTo>
                    <a:pt x="0" y="1059942"/>
                  </a:moveTo>
                  <a:lnTo>
                    <a:pt x="529971" y="0"/>
                  </a:lnTo>
                  <a:lnTo>
                    <a:pt x="1929130" y="0"/>
                  </a:lnTo>
                  <a:lnTo>
                    <a:pt x="2459101" y="1059942"/>
                  </a:lnTo>
                  <a:lnTo>
                    <a:pt x="1929130" y="2119884"/>
                  </a:lnTo>
                  <a:lnTo>
                    <a:pt x="529971" y="2119884"/>
                  </a:lnTo>
                  <a:close/>
                </a:path>
              </a:pathLst>
            </a:custGeom>
            <a:solidFill>
              <a:srgbClr val="5FCBEF"/>
            </a:solidFill>
          </p:spPr>
        </p:sp>
      </p:grpSp>
      <p:grpSp>
        <p:nvGrpSpPr>
          <p:cNvPr name="Group 31" id="31"/>
          <p:cNvGrpSpPr/>
          <p:nvPr/>
        </p:nvGrpSpPr>
        <p:grpSpPr>
          <a:xfrm rot="0">
            <a:off x="5632542" y="1791929"/>
            <a:ext cx="2499246" cy="2154517"/>
            <a:chOff x="0" y="0"/>
            <a:chExt cx="3332328" cy="2872689"/>
          </a:xfrm>
        </p:grpSpPr>
        <p:sp>
          <p:nvSpPr>
            <p:cNvPr name="Freeform 32" id="32"/>
            <p:cNvSpPr/>
            <p:nvPr/>
          </p:nvSpPr>
          <p:spPr>
            <a:xfrm flipH="false" flipV="false" rot="0">
              <a:off x="0" y="0"/>
              <a:ext cx="3332353" cy="2872740"/>
            </a:xfrm>
            <a:custGeom>
              <a:avLst/>
              <a:gdLst/>
              <a:ahLst/>
              <a:cxnLst/>
              <a:rect r="r" b="b" t="t" l="l"/>
              <a:pathLst>
                <a:path h="2872740" w="3332353">
                  <a:moveTo>
                    <a:pt x="0" y="1436370"/>
                  </a:moveTo>
                  <a:lnTo>
                    <a:pt x="718185" y="0"/>
                  </a:lnTo>
                  <a:lnTo>
                    <a:pt x="2614168" y="0"/>
                  </a:lnTo>
                  <a:lnTo>
                    <a:pt x="3332353" y="1436370"/>
                  </a:lnTo>
                  <a:lnTo>
                    <a:pt x="2614168" y="2872740"/>
                  </a:lnTo>
                  <a:lnTo>
                    <a:pt x="718185" y="2872740"/>
                  </a:lnTo>
                  <a:close/>
                </a:path>
              </a:pathLst>
            </a:custGeom>
            <a:solidFill>
              <a:srgbClr val="42D0A2"/>
            </a:solidFill>
          </p:spPr>
        </p:sp>
      </p:grpSp>
      <p:grpSp>
        <p:nvGrpSpPr>
          <p:cNvPr name="Group 33" id="33"/>
          <p:cNvGrpSpPr/>
          <p:nvPr/>
        </p:nvGrpSpPr>
        <p:grpSpPr>
          <a:xfrm rot="0">
            <a:off x="5707494" y="7849772"/>
            <a:ext cx="1077392" cy="928783"/>
            <a:chOff x="0" y="0"/>
            <a:chExt cx="1436522" cy="1238377"/>
          </a:xfrm>
        </p:grpSpPr>
        <p:sp>
          <p:nvSpPr>
            <p:cNvPr name="Freeform 34" id="34"/>
            <p:cNvSpPr/>
            <p:nvPr/>
          </p:nvSpPr>
          <p:spPr>
            <a:xfrm flipH="false" flipV="false" rot="0">
              <a:off x="0" y="0"/>
              <a:ext cx="1436497" cy="1238377"/>
            </a:xfrm>
            <a:custGeom>
              <a:avLst/>
              <a:gdLst/>
              <a:ahLst/>
              <a:cxnLst/>
              <a:rect r="r" b="b" t="t" l="l"/>
              <a:pathLst>
                <a:path h="1238377" w="1436497">
                  <a:moveTo>
                    <a:pt x="0" y="619252"/>
                  </a:moveTo>
                  <a:lnTo>
                    <a:pt x="309626" y="0"/>
                  </a:lnTo>
                  <a:lnTo>
                    <a:pt x="1126871" y="0"/>
                  </a:lnTo>
                  <a:lnTo>
                    <a:pt x="1436497" y="619252"/>
                  </a:lnTo>
                  <a:lnTo>
                    <a:pt x="1126871" y="1238377"/>
                  </a:lnTo>
                  <a:lnTo>
                    <a:pt x="309626" y="1238377"/>
                  </a:lnTo>
                  <a:close/>
                </a:path>
              </a:pathLst>
            </a:custGeom>
            <a:solidFill>
              <a:srgbClr val="42B051"/>
            </a:solidFill>
          </p:spPr>
        </p:sp>
      </p:grpSp>
      <p:grpSp>
        <p:nvGrpSpPr>
          <p:cNvPr name="Group 35" id="35"/>
          <p:cNvGrpSpPr/>
          <p:nvPr/>
        </p:nvGrpSpPr>
        <p:grpSpPr>
          <a:xfrm rot="0">
            <a:off x="2756754" y="1651959"/>
            <a:ext cx="977417" cy="842601"/>
            <a:chOff x="0" y="0"/>
            <a:chExt cx="1303223" cy="1123467"/>
          </a:xfrm>
        </p:grpSpPr>
        <p:sp>
          <p:nvSpPr>
            <p:cNvPr name="Freeform 36" id="36"/>
            <p:cNvSpPr/>
            <p:nvPr/>
          </p:nvSpPr>
          <p:spPr>
            <a:xfrm flipH="false" flipV="false" rot="0">
              <a:off x="0" y="0"/>
              <a:ext cx="1303274" cy="1123442"/>
            </a:xfrm>
            <a:custGeom>
              <a:avLst/>
              <a:gdLst/>
              <a:ahLst/>
              <a:cxnLst/>
              <a:rect r="r" b="b" t="t" l="l"/>
              <a:pathLst>
                <a:path h="1123442" w="1303274">
                  <a:moveTo>
                    <a:pt x="0" y="561721"/>
                  </a:moveTo>
                  <a:lnTo>
                    <a:pt x="280924" y="0"/>
                  </a:lnTo>
                  <a:lnTo>
                    <a:pt x="1022350" y="0"/>
                  </a:lnTo>
                  <a:lnTo>
                    <a:pt x="1303274" y="561721"/>
                  </a:lnTo>
                  <a:lnTo>
                    <a:pt x="1022350" y="1123442"/>
                  </a:lnTo>
                  <a:lnTo>
                    <a:pt x="280924" y="1123442"/>
                  </a:lnTo>
                  <a:close/>
                </a:path>
              </a:pathLst>
            </a:custGeom>
            <a:solidFill>
              <a:srgbClr val="2E946B"/>
            </a:solidFill>
          </p:spPr>
        </p:sp>
      </p:grpSp>
      <p:sp>
        <p:nvSpPr>
          <p:cNvPr name="TextBox 37" id="37"/>
          <p:cNvSpPr txBox="true"/>
          <p:nvPr/>
        </p:nvSpPr>
        <p:spPr>
          <a:xfrm rot="0">
            <a:off x="1982057" y="5220443"/>
            <a:ext cx="7891596" cy="923925"/>
          </a:xfrm>
          <a:prstGeom prst="rect">
            <a:avLst/>
          </a:prstGeom>
        </p:spPr>
        <p:txBody>
          <a:bodyPr anchor="t" rtlCol="false" tIns="0" lIns="0" bIns="0" rIns="0">
            <a:spAutoFit/>
          </a:bodyPr>
          <a:lstStyle/>
          <a:p>
            <a:pPr algn="l">
              <a:lnSpc>
                <a:spcPts val="3600"/>
              </a:lnSpc>
            </a:pPr>
            <a:r>
              <a:rPr lang="en-US" sz="3000" b="true">
                <a:solidFill>
                  <a:srgbClr val="000000"/>
                </a:solidFill>
                <a:latin typeface="Trebuchet MS Bold"/>
                <a:ea typeface="Trebuchet MS Bold"/>
                <a:cs typeface="Trebuchet MS Bold"/>
                <a:sym typeface="Trebuchet MS Bold"/>
              </a:rPr>
              <a:t>Name:</a:t>
            </a:r>
            <a:r>
              <a:rPr lang="en-US" sz="3000">
                <a:solidFill>
                  <a:srgbClr val="000000"/>
                </a:solidFill>
                <a:latin typeface="Trebuchet MS"/>
                <a:ea typeface="Trebuchet MS"/>
                <a:cs typeface="Trebuchet MS"/>
                <a:sym typeface="Trebuchet MS"/>
              </a:rPr>
              <a:t> RAYANA MALLIKARJUNA DURGA SAI</a:t>
            </a:r>
          </a:p>
          <a:p>
            <a:pPr algn="l">
              <a:lnSpc>
                <a:spcPts val="3600"/>
              </a:lnSpc>
            </a:pPr>
            <a:r>
              <a:rPr lang="en-US" sz="3000" b="true">
                <a:solidFill>
                  <a:srgbClr val="000000"/>
                </a:solidFill>
                <a:latin typeface="Trebuchet MS Bold"/>
                <a:ea typeface="Trebuchet MS Bold"/>
                <a:cs typeface="Trebuchet MS Bold"/>
                <a:sym typeface="Trebuchet MS Bold"/>
              </a:rPr>
              <a:t>College Name:</a:t>
            </a:r>
            <a:r>
              <a:rPr lang="en-US" sz="3000">
                <a:solidFill>
                  <a:srgbClr val="000000"/>
                </a:solidFill>
                <a:latin typeface="Trebuchet MS"/>
                <a:ea typeface="Trebuchet MS"/>
                <a:cs typeface="Trebuchet MS"/>
                <a:sym typeface="Trebuchet MS"/>
              </a:rPr>
              <a:t> Raghu Engineering College</a:t>
            </a:r>
          </a:p>
        </p:txBody>
      </p:sp>
      <p:sp>
        <p:nvSpPr>
          <p:cNvPr name="TextBox 38" id="38"/>
          <p:cNvSpPr txBox="true"/>
          <p:nvPr/>
        </p:nvSpPr>
        <p:spPr>
          <a:xfrm rot="0">
            <a:off x="1032224" y="4086558"/>
            <a:ext cx="7461504" cy="1088117"/>
          </a:xfrm>
          <a:prstGeom prst="rect">
            <a:avLst/>
          </a:prstGeom>
        </p:spPr>
        <p:txBody>
          <a:bodyPr anchor="t" rtlCol="false" tIns="0" lIns="0" bIns="0" rIns="0">
            <a:spAutoFit/>
          </a:bodyPr>
          <a:lstStyle/>
          <a:p>
            <a:pPr algn="l">
              <a:lnSpc>
                <a:spcPts val="5759"/>
              </a:lnSpc>
            </a:pPr>
            <a:r>
              <a:rPr lang="en-US" sz="4800">
                <a:solidFill>
                  <a:srgbClr val="000000"/>
                </a:solidFill>
                <a:latin typeface="Trebuchet MS"/>
                <a:ea typeface="Trebuchet MS"/>
                <a:cs typeface="Trebuchet MS"/>
                <a:sym typeface="Trebuchet MS"/>
              </a:rPr>
              <a:t>Project Title -</a:t>
            </a:r>
          </a:p>
        </p:txBody>
      </p:sp>
      <p:sp>
        <p:nvSpPr>
          <p:cNvPr name="TextBox 39" id="39"/>
          <p:cNvSpPr txBox="true"/>
          <p:nvPr/>
        </p:nvSpPr>
        <p:spPr>
          <a:xfrm rot="0">
            <a:off x="5224767" y="4190238"/>
            <a:ext cx="12377804" cy="1274721"/>
          </a:xfrm>
          <a:prstGeom prst="rect">
            <a:avLst/>
          </a:prstGeom>
        </p:spPr>
        <p:txBody>
          <a:bodyPr anchor="t" rtlCol="false" tIns="0" lIns="0" bIns="0" rIns="0">
            <a:spAutoFit/>
          </a:bodyPr>
          <a:lstStyle/>
          <a:p>
            <a:pPr algn="l">
              <a:lnSpc>
                <a:spcPts val="4320"/>
              </a:lnSpc>
            </a:pPr>
            <a:r>
              <a:rPr lang="en-US" sz="3600" b="true">
                <a:solidFill>
                  <a:srgbClr val="2E946B"/>
                </a:solidFill>
                <a:latin typeface="Trebuchet MS Bold"/>
                <a:ea typeface="Trebuchet MS Bold"/>
                <a:cs typeface="Trebuchet MS Bold"/>
                <a:sym typeface="Trebuchet MS Bold"/>
              </a:rPr>
              <a:t>Seasonal Agriculture Performance Analysis</a:t>
            </a:r>
          </a:p>
        </p:txBody>
      </p:sp>
      <p:grpSp>
        <p:nvGrpSpPr>
          <p:cNvPr name="Group 40" id="40"/>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42" id="42"/>
          <p:cNvSpPr txBox="true"/>
          <p:nvPr/>
        </p:nvSpPr>
        <p:spPr>
          <a:xfrm rot="0">
            <a:off x="1527553" y="6900901"/>
            <a:ext cx="9171861" cy="419100"/>
          </a:xfrm>
          <a:prstGeom prst="rect">
            <a:avLst/>
          </a:prstGeom>
        </p:spPr>
        <p:txBody>
          <a:bodyPr anchor="t" rtlCol="false" tIns="0" lIns="0" bIns="0" rIns="0">
            <a:spAutoFit/>
          </a:bodyPr>
          <a:lstStyle/>
          <a:p>
            <a:pPr algn="l">
              <a:lnSpc>
                <a:spcPts val="3240"/>
              </a:lnSpc>
            </a:pPr>
            <a:r>
              <a:rPr lang="en-US" sz="2700" b="true">
                <a:solidFill>
                  <a:srgbClr val="000000"/>
                </a:solidFill>
                <a:latin typeface="Trebuchet MS Bold"/>
                <a:ea typeface="Trebuchet MS Bold"/>
                <a:cs typeface="Trebuchet MS Bold"/>
                <a:sym typeface="Trebuchet MS Bold"/>
              </a:rPr>
              <a:t>AICTE STU ID : STU69c38045ede4b1774420037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856278" y="3450555"/>
            <a:ext cx="9610344" cy="5384930"/>
          </a:xfrm>
          <a:prstGeom prst="rect">
            <a:avLst/>
          </a:prstGeom>
        </p:spPr>
        <p:txBody>
          <a:bodyPr anchor="t" rtlCol="false" tIns="0" lIns="0" bIns="0" rIns="0">
            <a:spAutoFit/>
          </a:bodyPr>
          <a:lstStyle/>
          <a:p>
            <a:pPr algn="l" marL="542925" indent="-271462" lvl="1">
              <a:lnSpc>
                <a:spcPts val="3600"/>
              </a:lnSpc>
              <a:buFont typeface="Arial"/>
              <a:buChar char="•"/>
            </a:pPr>
            <a:r>
              <a:rPr lang="en-US" sz="3000">
                <a:solidFill>
                  <a:srgbClr val="3C3C3C"/>
                </a:solidFill>
                <a:latin typeface="Trebuchet MS"/>
                <a:ea typeface="Trebuchet MS"/>
                <a:cs typeface="Trebuchet MS"/>
                <a:sym typeface="Trebuchet MS"/>
              </a:rPr>
              <a:t>Agricultural activities are influenced by seasonal variations in environmental conditions, farming practices, resource availability and market conditions. As a result, agricultural performance may differ from one season to another.</a:t>
            </a:r>
          </a:p>
          <a:p>
            <a:pPr algn="l" marL="542925" indent="-271462" lvl="1">
              <a:lnSpc>
                <a:spcPts val="3600"/>
              </a:lnSpc>
              <a:buFont typeface="Arial"/>
              <a:buChar char="•"/>
            </a:pPr>
            <a:r>
              <a:rPr lang="en-US" sz="3000">
                <a:solidFill>
                  <a:srgbClr val="3C3C3C"/>
                </a:solidFill>
                <a:latin typeface="Trebuchet MS"/>
                <a:ea typeface="Trebuchet MS"/>
                <a:cs typeface="Trebuchet MS"/>
                <a:sym typeface="Trebuchet MS"/>
              </a:rPr>
              <a:t>However, raw agricultural data does not clearly explain how agricultural performance changes across seasons or what patterns can be observed in different seasonal conditions. The project analyzes the given agricultural dataset to identify meaningful seasonal patterns, trends, relationships and variations.</a:t>
            </a:r>
          </a:p>
        </p:txBody>
      </p:sp>
      <p:sp>
        <p:nvSpPr>
          <p:cNvPr name="TextBox 36" id="36"/>
          <p:cNvSpPr txBox="true"/>
          <p:nvPr/>
        </p:nvSpPr>
        <p:spPr>
          <a:xfrm rot="0">
            <a:off x="929430" y="1469422"/>
            <a:ext cx="10310527" cy="1103252"/>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PROBLEM  STATEMENT</a:t>
            </a:r>
          </a:p>
        </p:txBody>
      </p:sp>
      <p:grpSp>
        <p:nvGrpSpPr>
          <p:cNvPr name="Group 37" id="37"/>
          <p:cNvGrpSpPr/>
          <p:nvPr/>
        </p:nvGrpSpPr>
        <p:grpSpPr>
          <a:xfrm rot="0">
            <a:off x="11993528" y="4396254"/>
            <a:ext cx="4141137" cy="4896612"/>
            <a:chOff x="0" y="0"/>
            <a:chExt cx="5521516" cy="6528816"/>
          </a:xfrm>
        </p:grpSpPr>
        <p:sp>
          <p:nvSpPr>
            <p:cNvPr name="Freeform 38" id="38"/>
            <p:cNvSpPr/>
            <p:nvPr/>
          </p:nvSpPr>
          <p:spPr>
            <a:xfrm flipH="false" flipV="false" rot="0">
              <a:off x="0" y="0"/>
              <a:ext cx="5521579" cy="6528816"/>
            </a:xfrm>
            <a:custGeom>
              <a:avLst/>
              <a:gdLst/>
              <a:ahLst/>
              <a:cxnLst/>
              <a:rect r="r" b="b" t="t" l="l"/>
              <a:pathLst>
                <a:path h="6528816" w="5521579">
                  <a:moveTo>
                    <a:pt x="0" y="0"/>
                  </a:moveTo>
                  <a:lnTo>
                    <a:pt x="5521579" y="0"/>
                  </a:lnTo>
                  <a:lnTo>
                    <a:pt x="5521579" y="6528816"/>
                  </a:lnTo>
                  <a:lnTo>
                    <a:pt x="0" y="6528816"/>
                  </a:lnTo>
                  <a:lnTo>
                    <a:pt x="0" y="0"/>
                  </a:lnTo>
                  <a:close/>
                </a:path>
              </a:pathLst>
            </a:custGeom>
            <a:blipFill>
              <a:blip r:embed="rId3"/>
              <a:stretch>
                <a:fillRect l="0" t="0" r="1" b="0"/>
              </a:stretch>
            </a:blipFill>
          </p:spPr>
        </p:sp>
      </p:grpSp>
      <p:grpSp>
        <p:nvGrpSpPr>
          <p:cNvPr name="Group 39" id="39"/>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4"/>
              <a:stretch>
                <a:fillRect l="0" t="-2518486" r="-135857"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082040" y="1244013"/>
            <a:ext cx="9231287" cy="1164584"/>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Project Description</a:t>
            </a:r>
          </a:p>
          <a:p>
            <a:pPr algn="l">
              <a:lnSpc>
                <a:spcPts val="7776"/>
              </a:lnSpc>
            </a:pPr>
          </a:p>
          <a:p>
            <a:pPr algn="l">
              <a:lnSpc>
                <a:spcPts val="7776"/>
              </a:lnSpc>
            </a:pPr>
          </a:p>
        </p:txBody>
      </p:sp>
      <p:grpSp>
        <p:nvGrpSpPr>
          <p:cNvPr name="Group 36" id="36"/>
          <p:cNvGrpSpPr/>
          <p:nvPr/>
        </p:nvGrpSpPr>
        <p:grpSpPr>
          <a:xfrm rot="0">
            <a:off x="1013936" y="9707880"/>
            <a:ext cx="3214688" cy="289560"/>
            <a:chOff x="0" y="0"/>
            <a:chExt cx="4286250" cy="386080"/>
          </a:xfrm>
        </p:grpSpPr>
        <p:sp>
          <p:nvSpPr>
            <p:cNvPr name="Freeform 37" id="37"/>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grpSp>
        <p:nvGrpSpPr>
          <p:cNvPr name="Group 38" id="38"/>
          <p:cNvGrpSpPr/>
          <p:nvPr/>
        </p:nvGrpSpPr>
        <p:grpSpPr>
          <a:xfrm rot="0">
            <a:off x="701040" y="9615688"/>
            <a:ext cx="5559381" cy="444141"/>
            <a:chOff x="0" y="0"/>
            <a:chExt cx="7412507" cy="592188"/>
          </a:xfrm>
        </p:grpSpPr>
        <p:sp>
          <p:nvSpPr>
            <p:cNvPr name="Freeform 39" id="39"/>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sp>
        <p:nvSpPr>
          <p:cNvPr name="TextBox 40" id="40"/>
          <p:cNvSpPr txBox="true"/>
          <p:nvPr/>
        </p:nvSpPr>
        <p:spPr>
          <a:xfrm rot="0">
            <a:off x="1012365" y="3347847"/>
            <a:ext cx="11772900" cy="4862160"/>
          </a:xfrm>
          <a:prstGeom prst="rect">
            <a:avLst/>
          </a:prstGeom>
        </p:spPr>
        <p:txBody>
          <a:bodyPr anchor="t" rtlCol="false" tIns="0" lIns="0" bIns="0" rIns="0">
            <a:spAutoFit/>
          </a:bodyPr>
          <a:lstStyle/>
          <a:p>
            <a:pPr algn="l" marL="515779" indent="-257889" lvl="1">
              <a:lnSpc>
                <a:spcPts val="3419"/>
              </a:lnSpc>
              <a:buFont typeface="Arial"/>
              <a:buChar char="•"/>
            </a:pPr>
            <a:r>
              <a:rPr lang="en-US" sz="2850">
                <a:solidFill>
                  <a:srgbClr val="282828"/>
                </a:solidFill>
                <a:latin typeface="Trebuchet MS"/>
                <a:ea typeface="Trebuchet MS"/>
                <a:cs typeface="Trebuchet MS"/>
                <a:sym typeface="Trebuchet MS"/>
              </a:rPr>
              <a:t>Seasonal Agriculture Performance Analysis studies farm-level agricultural records across Kharif, Rabi and Zaid seasons. The analysis examines environmental conditions, farming practices, resource usage, production, profitability and irrigation. </a:t>
            </a:r>
          </a:p>
          <a:p>
            <a:pPr algn="l" marL="515779" indent="-257889" lvl="1">
              <a:lnSpc>
                <a:spcPts val="3419"/>
              </a:lnSpc>
            </a:pPr>
          </a:p>
          <a:p>
            <a:pPr algn="l" marL="515779" indent="-257889" lvl="1">
              <a:lnSpc>
                <a:spcPts val="3419"/>
              </a:lnSpc>
              <a:buFont typeface="Arial"/>
              <a:buChar char="•"/>
            </a:pPr>
            <a:r>
              <a:rPr lang="en-US" sz="2850">
                <a:solidFill>
                  <a:srgbClr val="282828"/>
                </a:solidFill>
                <a:latin typeface="Trebuchet MS"/>
                <a:ea typeface="Trebuchet MS"/>
                <a:cs typeface="Trebuchet MS"/>
                <a:sym typeface="Trebuchet MS"/>
              </a:rPr>
              <a:t>The notebook performs data exploration and cleaning, descriptive statistics, univariate, bivariate and multivariate analysis, outlier review, seasonal comparisons, group comparisons and a Kruskal-Wallis test. The purpose is to understand how agricultural performance changes across seasons and to communicate evidence-based findings.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sp>
        <p:nvSpPr>
          <p:cNvPr name="TextBox 35" id="35"/>
          <p:cNvSpPr txBox="true"/>
          <p:nvPr/>
        </p:nvSpPr>
        <p:spPr>
          <a:xfrm rot="0">
            <a:off x="1173480" y="1622698"/>
            <a:ext cx="14886222" cy="1122045"/>
          </a:xfrm>
          <a:prstGeom prst="rect">
            <a:avLst/>
          </a:prstGeom>
        </p:spPr>
        <p:txBody>
          <a:bodyPr anchor="t" rtlCol="false" tIns="0" lIns="0" bIns="0" rIns="0">
            <a:spAutoFit/>
          </a:bodyPr>
          <a:lstStyle/>
          <a:p>
            <a:pPr algn="l">
              <a:lnSpc>
                <a:spcPts val="5759"/>
              </a:lnSpc>
            </a:pPr>
            <a:r>
              <a:rPr lang="en-US" sz="4800" b="true">
                <a:solidFill>
                  <a:srgbClr val="000000"/>
                </a:solidFill>
                <a:latin typeface="Trebuchet MS Bold"/>
                <a:ea typeface="Trebuchet MS Bold"/>
                <a:cs typeface="Trebuchet MS Bold"/>
                <a:sym typeface="Trebuchet MS Bold"/>
              </a:rPr>
              <a:t>WHO ARE THE END USERS?</a:t>
            </a:r>
          </a:p>
        </p:txBody>
      </p:sp>
      <p:grpSp>
        <p:nvGrpSpPr>
          <p:cNvPr name="Group 36" id="36"/>
          <p:cNvGrpSpPr/>
          <p:nvPr/>
        </p:nvGrpSpPr>
        <p:grpSpPr>
          <a:xfrm rot="0">
            <a:off x="1082040" y="9265206"/>
            <a:ext cx="3271838" cy="728662"/>
            <a:chOff x="0" y="0"/>
            <a:chExt cx="4362450" cy="971550"/>
          </a:xfrm>
        </p:grpSpPr>
        <p:sp>
          <p:nvSpPr>
            <p:cNvPr name="Freeform 37" id="37"/>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3"/>
              <a:stretch>
                <a:fillRect l="0" t="0" r="0" b="0"/>
              </a:stretch>
            </a:blipFill>
          </p:spPr>
        </p:sp>
      </p:grpSp>
      <p:sp>
        <p:nvSpPr>
          <p:cNvPr name="TextBox 38" id="38"/>
          <p:cNvSpPr txBox="true"/>
          <p:nvPr/>
        </p:nvSpPr>
        <p:spPr>
          <a:xfrm rot="0">
            <a:off x="1273912" y="2964085"/>
            <a:ext cx="11000232" cy="4971593"/>
          </a:xfrm>
          <a:prstGeom prst="rect">
            <a:avLst/>
          </a:prstGeom>
        </p:spPr>
        <p:txBody>
          <a:bodyPr anchor="t" rtlCol="false" tIns="0" lIns="0" bIns="0" rIns="0">
            <a:spAutoFit/>
          </a:bodyPr>
          <a:lstStyle/>
          <a:p>
            <a:pPr algn="l" marL="515779" indent="-257889" lvl="1">
              <a:lnSpc>
                <a:spcPts val="3419"/>
              </a:lnSpc>
              <a:buFont typeface="Arial"/>
              <a:buChar char="•"/>
            </a:pPr>
            <a:r>
              <a:rPr lang="en-US" sz="2850">
                <a:solidFill>
                  <a:srgbClr val="232323"/>
                </a:solidFill>
                <a:latin typeface="Trebuchet MS"/>
                <a:ea typeface="Trebuchet MS"/>
                <a:cs typeface="Trebuchet MS"/>
                <a:sym typeface="Trebuchet MS"/>
              </a:rPr>
              <a:t>Farmers and farm managers – for comparing seasonal performance.</a:t>
            </a:r>
          </a:p>
          <a:p>
            <a:pPr algn="l" marL="515779" indent="-257889" lvl="1">
              <a:lnSpc>
                <a:spcPts val="3419"/>
              </a:lnSpc>
              <a:buFont typeface="Arial"/>
              <a:buChar char="•"/>
            </a:pPr>
            <a:r>
              <a:rPr lang="en-US" sz="2850">
                <a:solidFill>
                  <a:srgbClr val="232323"/>
                </a:solidFill>
                <a:latin typeface="Trebuchet MS"/>
                <a:ea typeface="Trebuchet MS"/>
                <a:cs typeface="Trebuchet MS"/>
                <a:sym typeface="Trebuchet MS"/>
              </a:rPr>
              <a:t>Agricultural analysts and planners – for identifying seasonal patterns and differences.</a:t>
            </a:r>
          </a:p>
          <a:p>
            <a:pPr algn="l" marL="515779" indent="-257889" lvl="1">
              <a:lnSpc>
                <a:spcPts val="3419"/>
              </a:lnSpc>
              <a:buFont typeface="Arial"/>
              <a:buChar char="•"/>
            </a:pPr>
            <a:r>
              <a:rPr lang="en-US" sz="2850">
                <a:solidFill>
                  <a:srgbClr val="232323"/>
                </a:solidFill>
                <a:latin typeface="Trebuchet MS"/>
                <a:ea typeface="Trebuchet MS"/>
                <a:cs typeface="Trebuchet MS"/>
                <a:sym typeface="Trebuchet MS"/>
              </a:rPr>
              <a:t>Irrigation and resource managers – for reviewing water use and efficiency.</a:t>
            </a:r>
          </a:p>
          <a:p>
            <a:pPr algn="l" marL="515779" indent="-257889" lvl="1">
              <a:lnSpc>
                <a:spcPts val="3419"/>
              </a:lnSpc>
              <a:buFont typeface="Arial"/>
              <a:buChar char="•"/>
            </a:pPr>
            <a:r>
              <a:rPr lang="en-US" sz="2850">
                <a:solidFill>
                  <a:srgbClr val="232323"/>
                </a:solidFill>
                <a:latin typeface="Trebuchet MS"/>
                <a:ea typeface="Trebuchet MS"/>
                <a:cs typeface="Trebuchet MS"/>
                <a:sym typeface="Trebuchet MS"/>
              </a:rPr>
              <a:t>Agricultural researchers and students – for evidence-based seasonal analysis.</a:t>
            </a:r>
          </a:p>
          <a:p>
            <a:pPr algn="l" marL="515779" indent="-257889" lvl="1">
              <a:lnSpc>
                <a:spcPts val="3419"/>
              </a:lnSpc>
              <a:buFont typeface="Arial"/>
              <a:buChar char="•"/>
            </a:pPr>
            <a:r>
              <a:rPr lang="en-US" sz="2850">
                <a:solidFill>
                  <a:srgbClr val="232323"/>
                </a:solidFill>
                <a:latin typeface="Trebuchet MS"/>
                <a:ea typeface="Trebuchet MS"/>
                <a:cs typeface="Trebuchet MS"/>
                <a:sym typeface="Trebuchet MS"/>
              </a:rPr>
              <a:t>Decision-makers – for using data-driven seasonal insights in planning.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3">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3">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044238" y="664893"/>
            <a:ext cx="542925" cy="542925"/>
            <a:chOff x="0" y="0"/>
            <a:chExt cx="723900" cy="723900"/>
          </a:xfrm>
        </p:grpSpPr>
        <p:sp>
          <p:nvSpPr>
            <p:cNvPr name="Freeform 30" id="30"/>
            <p:cNvSpPr/>
            <p:nvPr/>
          </p:nvSpPr>
          <p:spPr>
            <a:xfrm flipH="false" flipV="false" rot="0">
              <a:off x="0" y="0"/>
              <a:ext cx="723900" cy="723900"/>
            </a:xfrm>
            <a:custGeom>
              <a:avLst/>
              <a:gdLst/>
              <a:ahLst/>
              <a:cxnLst/>
              <a:rect r="r" b="b" t="t" l="l"/>
              <a:pathLst>
                <a:path h="723900" w="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p:spPr>
        </p:sp>
      </p:grpSp>
      <p:grpSp>
        <p:nvGrpSpPr>
          <p:cNvPr name="Group 31" id="31"/>
          <p:cNvGrpSpPr/>
          <p:nvPr/>
        </p:nvGrpSpPr>
        <p:grpSpPr>
          <a:xfrm rot="0">
            <a:off x="16510873" y="8408994"/>
            <a:ext cx="981342" cy="981342"/>
            <a:chOff x="0" y="0"/>
            <a:chExt cx="1308456" cy="1308456"/>
          </a:xfrm>
        </p:grpSpPr>
        <p:sp>
          <p:nvSpPr>
            <p:cNvPr name="Freeform 32" id="32"/>
            <p:cNvSpPr/>
            <p:nvPr/>
          </p:nvSpPr>
          <p:spPr>
            <a:xfrm flipH="false" flipV="false" rot="0">
              <a:off x="0" y="0"/>
              <a:ext cx="1308354" cy="1308354"/>
            </a:xfrm>
            <a:custGeom>
              <a:avLst/>
              <a:gdLst/>
              <a:ahLst/>
              <a:cxnLst/>
              <a:rect r="r" b="b" t="t" l="l"/>
              <a:pathLst>
                <a:path h="1308354" w="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p:spPr>
        </p:sp>
      </p:grpSp>
      <p:grpSp>
        <p:nvGrpSpPr>
          <p:cNvPr name="Group 33" id="33"/>
          <p:cNvGrpSpPr/>
          <p:nvPr/>
        </p:nvGrpSpPr>
        <p:grpSpPr>
          <a:xfrm rot="0">
            <a:off x="16025689" y="9198654"/>
            <a:ext cx="376723" cy="376723"/>
            <a:chOff x="0" y="0"/>
            <a:chExt cx="502298" cy="502298"/>
          </a:xfrm>
        </p:grpSpPr>
        <p:sp>
          <p:nvSpPr>
            <p:cNvPr name="Freeform 34" id="34"/>
            <p:cNvSpPr/>
            <p:nvPr/>
          </p:nvSpPr>
          <p:spPr>
            <a:xfrm flipH="false" flipV="false" rot="0">
              <a:off x="0" y="0"/>
              <a:ext cx="502285" cy="502285"/>
            </a:xfrm>
            <a:custGeom>
              <a:avLst/>
              <a:gdLst/>
              <a:ahLst/>
              <a:cxnLst/>
              <a:rect r="r" b="b" t="t" l="l"/>
              <a:pathLst>
                <a:path h="502285" w="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p:spPr>
        </p:sp>
      </p:grpSp>
      <p:grpSp>
        <p:nvGrpSpPr>
          <p:cNvPr name="Group 35" id="35"/>
          <p:cNvGrpSpPr/>
          <p:nvPr/>
        </p:nvGrpSpPr>
        <p:grpSpPr>
          <a:xfrm rot="0">
            <a:off x="701040" y="9615688"/>
            <a:ext cx="5559381" cy="444141"/>
            <a:chOff x="0" y="0"/>
            <a:chExt cx="7412507" cy="592188"/>
          </a:xfrm>
        </p:grpSpPr>
        <p:sp>
          <p:nvSpPr>
            <p:cNvPr name="Freeform 36" id="36"/>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4"/>
              <a:stretch>
                <a:fillRect l="0" t="0" r="0" b="2"/>
              </a:stretch>
            </a:blipFill>
          </p:spPr>
        </p:sp>
      </p:grpSp>
      <p:grpSp>
        <p:nvGrpSpPr>
          <p:cNvPr name="Group 37" id="37"/>
          <p:cNvGrpSpPr/>
          <p:nvPr/>
        </p:nvGrpSpPr>
        <p:grpSpPr>
          <a:xfrm rot="0">
            <a:off x="76200" y="5730240"/>
            <a:ext cx="2590800" cy="4515040"/>
            <a:chOff x="0" y="0"/>
            <a:chExt cx="3454400" cy="6020054"/>
          </a:xfrm>
        </p:grpSpPr>
        <p:sp>
          <p:nvSpPr>
            <p:cNvPr name="Freeform 38" id="38"/>
            <p:cNvSpPr/>
            <p:nvPr/>
          </p:nvSpPr>
          <p:spPr>
            <a:xfrm flipH="true" flipV="false" rot="0">
              <a:off x="0" y="0"/>
              <a:ext cx="3454400" cy="6020054"/>
            </a:xfrm>
            <a:custGeom>
              <a:avLst/>
              <a:gdLst/>
              <a:ahLst/>
              <a:cxnLst/>
              <a:rect r="r" b="b" t="t" l="l"/>
              <a:pathLst>
                <a:path h="6020054" w="3454400">
                  <a:moveTo>
                    <a:pt x="3454400" y="0"/>
                  </a:moveTo>
                  <a:lnTo>
                    <a:pt x="0" y="0"/>
                  </a:lnTo>
                  <a:lnTo>
                    <a:pt x="0" y="6020054"/>
                  </a:lnTo>
                  <a:lnTo>
                    <a:pt x="3454400" y="6020054"/>
                  </a:lnTo>
                  <a:lnTo>
                    <a:pt x="3454400" y="0"/>
                  </a:lnTo>
                  <a:close/>
                </a:path>
              </a:pathLst>
            </a:custGeom>
            <a:blipFill>
              <a:blip r:embed="rId5"/>
              <a:stretch>
                <a:fillRect l="-5923" t="0" r="-5922" b="0"/>
              </a:stretch>
            </a:blipFill>
          </p:spPr>
        </p:sp>
      </p:grpSp>
      <p:sp>
        <p:nvSpPr>
          <p:cNvPr name="TextBox 39" id="39"/>
          <p:cNvSpPr txBox="true"/>
          <p:nvPr/>
        </p:nvSpPr>
        <p:spPr>
          <a:xfrm rot="0">
            <a:off x="1082040" y="672522"/>
            <a:ext cx="7776553" cy="1199331"/>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Technology Used</a:t>
            </a:r>
          </a:p>
        </p:txBody>
      </p:sp>
      <p:sp>
        <p:nvSpPr>
          <p:cNvPr name="TextBox 40" id="40"/>
          <p:cNvSpPr txBox="true"/>
          <p:nvPr/>
        </p:nvSpPr>
        <p:spPr>
          <a:xfrm rot="0">
            <a:off x="1426464" y="2417826"/>
            <a:ext cx="11754612" cy="3365297"/>
          </a:xfrm>
          <a:prstGeom prst="rect">
            <a:avLst/>
          </a:prstGeom>
        </p:spPr>
        <p:txBody>
          <a:bodyPr anchor="t" rtlCol="false" tIns="0" lIns="0" bIns="0" rIns="0">
            <a:spAutoFit/>
          </a:bodyPr>
          <a:lstStyle/>
          <a:p>
            <a:pPr algn="l" marL="651510" indent="-325755" lvl="1">
              <a:lnSpc>
                <a:spcPts val="4320"/>
              </a:lnSpc>
              <a:buFont typeface="Arial"/>
              <a:buChar char="•"/>
            </a:pPr>
            <a:r>
              <a:rPr lang="en-US" sz="3600">
                <a:solidFill>
                  <a:srgbClr val="232323"/>
                </a:solidFill>
                <a:latin typeface="Trebuchet MS"/>
                <a:ea typeface="Trebuchet MS"/>
                <a:cs typeface="Trebuchet MS"/>
                <a:sym typeface="Trebuchet MS"/>
              </a:rPr>
              <a:t>Python</a:t>
            </a:r>
          </a:p>
          <a:p>
            <a:pPr algn="l" marL="651510" indent="-325755" lvl="1">
              <a:lnSpc>
                <a:spcPts val="4320"/>
              </a:lnSpc>
              <a:buFont typeface="Arial"/>
              <a:buChar char="•"/>
            </a:pPr>
            <a:r>
              <a:rPr lang="en-US" sz="3600">
                <a:solidFill>
                  <a:srgbClr val="232323"/>
                </a:solidFill>
                <a:latin typeface="Trebuchet MS"/>
                <a:ea typeface="Trebuchet MS"/>
                <a:cs typeface="Trebuchet MS"/>
                <a:sym typeface="Trebuchet MS"/>
              </a:rPr>
              <a:t>Pandas and NumPy</a:t>
            </a:r>
          </a:p>
          <a:p>
            <a:pPr algn="l" marL="651510" indent="-325755" lvl="1">
              <a:lnSpc>
                <a:spcPts val="4320"/>
              </a:lnSpc>
              <a:buFont typeface="Arial"/>
              <a:buChar char="•"/>
            </a:pPr>
            <a:r>
              <a:rPr lang="en-US" sz="3600">
                <a:solidFill>
                  <a:srgbClr val="232323"/>
                </a:solidFill>
                <a:latin typeface="Trebuchet MS"/>
                <a:ea typeface="Trebuchet MS"/>
                <a:cs typeface="Trebuchet MS"/>
                <a:sym typeface="Trebuchet MS"/>
              </a:rPr>
              <a:t>Matplotlib and Seaborn</a:t>
            </a:r>
          </a:p>
          <a:p>
            <a:pPr algn="l" marL="651510" indent="-325755" lvl="1">
              <a:lnSpc>
                <a:spcPts val="4320"/>
              </a:lnSpc>
              <a:buFont typeface="Arial"/>
              <a:buChar char="•"/>
            </a:pPr>
            <a:r>
              <a:rPr lang="en-US" sz="3600">
                <a:solidFill>
                  <a:srgbClr val="232323"/>
                </a:solidFill>
                <a:latin typeface="Trebuchet MS"/>
                <a:ea typeface="Trebuchet MS"/>
                <a:cs typeface="Trebuchet MS"/>
                <a:sym typeface="Trebuchet MS"/>
              </a:rPr>
              <a:t>SciPy (Kruskal-Wallis test)</a:t>
            </a:r>
          </a:p>
          <a:p>
            <a:pPr algn="l" marL="651510" indent="-325755" lvl="1">
              <a:lnSpc>
                <a:spcPts val="4320"/>
              </a:lnSpc>
              <a:buFont typeface="Arial"/>
              <a:buChar char="•"/>
            </a:pPr>
            <a:r>
              <a:rPr lang="en-US" sz="3600">
                <a:solidFill>
                  <a:srgbClr val="232323"/>
                </a:solidFill>
                <a:latin typeface="Trebuchet MS"/>
                <a:ea typeface="Trebuchet MS"/>
                <a:cs typeface="Trebuchet MS"/>
                <a:sym typeface="Trebuchet MS"/>
              </a:rPr>
              <a:t>Google Colab / Jupyter Notebook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grpSp>
        <p:nvGrpSpPr>
          <p:cNvPr name="Group 38" id="38"/>
          <p:cNvGrpSpPr/>
          <p:nvPr/>
        </p:nvGrpSpPr>
        <p:grpSpPr>
          <a:xfrm rot="0">
            <a:off x="1893494" y="1802378"/>
            <a:ext cx="10545070" cy="8047653"/>
            <a:chOff x="0" y="0"/>
            <a:chExt cx="14060094" cy="10730205"/>
          </a:xfrm>
        </p:grpSpPr>
        <p:sp>
          <p:nvSpPr>
            <p:cNvPr name="Freeform 39" id="39"/>
            <p:cNvSpPr/>
            <p:nvPr/>
          </p:nvSpPr>
          <p:spPr>
            <a:xfrm flipH="false" flipV="false" rot="0">
              <a:off x="0" y="0"/>
              <a:ext cx="14060043" cy="10730230"/>
            </a:xfrm>
            <a:custGeom>
              <a:avLst/>
              <a:gdLst/>
              <a:ahLst/>
              <a:cxnLst/>
              <a:rect r="r" b="b" t="t" l="l"/>
              <a:pathLst>
                <a:path h="10730230" w="14060043">
                  <a:moveTo>
                    <a:pt x="0" y="0"/>
                  </a:moveTo>
                  <a:lnTo>
                    <a:pt x="14060043" y="0"/>
                  </a:lnTo>
                  <a:lnTo>
                    <a:pt x="14060043" y="10730230"/>
                  </a:lnTo>
                  <a:lnTo>
                    <a:pt x="0" y="10730230"/>
                  </a:lnTo>
                  <a:lnTo>
                    <a:pt x="0" y="0"/>
                  </a:lnTo>
                  <a:close/>
                </a:path>
              </a:pathLst>
            </a:custGeom>
            <a:blipFill>
              <a:blip r:embed="rId4"/>
              <a:stretch>
                <a:fillRect l="0" t="-2266" r="0" b="-2266"/>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grpSp>
        <p:nvGrpSpPr>
          <p:cNvPr name="Group 38" id="38"/>
          <p:cNvGrpSpPr/>
          <p:nvPr/>
        </p:nvGrpSpPr>
        <p:grpSpPr>
          <a:xfrm rot="0">
            <a:off x="1303020" y="2125980"/>
            <a:ext cx="10424160" cy="6446520"/>
            <a:chOff x="0" y="0"/>
            <a:chExt cx="13898880" cy="8595360"/>
          </a:xfrm>
        </p:grpSpPr>
        <p:sp>
          <p:nvSpPr>
            <p:cNvPr name="Freeform 39" id="39" descr="cell42_out0.png"/>
            <p:cNvSpPr/>
            <p:nvPr/>
          </p:nvSpPr>
          <p:spPr>
            <a:xfrm flipH="false" flipV="false" rot="0">
              <a:off x="0" y="0"/>
              <a:ext cx="13898880" cy="8595360"/>
            </a:xfrm>
            <a:custGeom>
              <a:avLst/>
              <a:gdLst/>
              <a:ahLst/>
              <a:cxnLst/>
              <a:rect r="r" b="b" t="t" l="l"/>
              <a:pathLst>
                <a:path h="8595360" w="13898880">
                  <a:moveTo>
                    <a:pt x="0" y="0"/>
                  </a:moveTo>
                  <a:lnTo>
                    <a:pt x="13898880" y="0"/>
                  </a:lnTo>
                  <a:lnTo>
                    <a:pt x="13898880" y="8595360"/>
                  </a:lnTo>
                  <a:lnTo>
                    <a:pt x="0" y="8595360"/>
                  </a:lnTo>
                  <a:lnTo>
                    <a:pt x="0" y="0"/>
                  </a:lnTo>
                  <a:close/>
                </a:path>
              </a:pathLst>
            </a:custGeom>
            <a:blipFill>
              <a:blip r:embed="rId4"/>
              <a:stretch>
                <a:fillRect l="-86" t="0" r="-86" b="0"/>
              </a:stretch>
            </a:blipFill>
          </p:spPr>
        </p:sp>
      </p:grpSp>
      <p:sp>
        <p:nvSpPr>
          <p:cNvPr name="TextBox 40" id="40"/>
          <p:cNvSpPr txBox="true"/>
          <p:nvPr/>
        </p:nvSpPr>
        <p:spPr>
          <a:xfrm rot="0">
            <a:off x="1348740" y="8622030"/>
            <a:ext cx="11018520" cy="718566"/>
          </a:xfrm>
          <a:prstGeom prst="rect">
            <a:avLst/>
          </a:prstGeom>
        </p:spPr>
        <p:txBody>
          <a:bodyPr anchor="t" rtlCol="false" tIns="0" lIns="0" bIns="0" rIns="0">
            <a:spAutoFit/>
          </a:bodyPr>
          <a:lstStyle/>
          <a:p>
            <a:pPr algn="l">
              <a:lnSpc>
                <a:spcPts val="2520"/>
              </a:lnSpc>
            </a:pPr>
            <a:r>
              <a:rPr lang="en-US" sz="2100" b="true">
                <a:solidFill>
                  <a:srgbClr val="2D2D2D"/>
                </a:solidFill>
                <a:latin typeface="Trebuchet MS Bold"/>
                <a:ea typeface="Trebuchet MS Bold"/>
                <a:cs typeface="Trebuchet MS Bold"/>
                <a:sym typeface="Trebuchet MS Bold"/>
              </a:rPr>
              <a:t>Yield is highest on average in Kharif, followed by Rabi and Zaid.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grpSp>
        <p:nvGrpSpPr>
          <p:cNvPr name="Group 38" id="38"/>
          <p:cNvGrpSpPr/>
          <p:nvPr/>
        </p:nvGrpSpPr>
        <p:grpSpPr>
          <a:xfrm rot="0">
            <a:off x="1303020" y="2125980"/>
            <a:ext cx="10424160" cy="6446520"/>
            <a:chOff x="0" y="0"/>
            <a:chExt cx="13898880" cy="8595360"/>
          </a:xfrm>
        </p:grpSpPr>
        <p:sp>
          <p:nvSpPr>
            <p:cNvPr name="Freeform 39" id="39" descr="cell45_out0.png"/>
            <p:cNvSpPr/>
            <p:nvPr/>
          </p:nvSpPr>
          <p:spPr>
            <a:xfrm flipH="false" flipV="false" rot="0">
              <a:off x="0" y="0"/>
              <a:ext cx="13898880" cy="8595360"/>
            </a:xfrm>
            <a:custGeom>
              <a:avLst/>
              <a:gdLst/>
              <a:ahLst/>
              <a:cxnLst/>
              <a:rect r="r" b="b" t="t" l="l"/>
              <a:pathLst>
                <a:path h="8595360" w="13898880">
                  <a:moveTo>
                    <a:pt x="0" y="0"/>
                  </a:moveTo>
                  <a:lnTo>
                    <a:pt x="13898880" y="0"/>
                  </a:lnTo>
                  <a:lnTo>
                    <a:pt x="13898880" y="8595360"/>
                  </a:lnTo>
                  <a:lnTo>
                    <a:pt x="0" y="8595360"/>
                  </a:lnTo>
                  <a:lnTo>
                    <a:pt x="0" y="0"/>
                  </a:lnTo>
                  <a:close/>
                </a:path>
              </a:pathLst>
            </a:custGeom>
            <a:blipFill>
              <a:blip r:embed="rId4"/>
              <a:stretch>
                <a:fillRect l="-86" t="0" r="-86" b="0"/>
              </a:stretch>
            </a:blipFill>
          </p:spPr>
        </p:sp>
      </p:grpSp>
      <p:sp>
        <p:nvSpPr>
          <p:cNvPr name="TextBox 40" id="40"/>
          <p:cNvSpPr txBox="true"/>
          <p:nvPr/>
        </p:nvSpPr>
        <p:spPr>
          <a:xfrm rot="0">
            <a:off x="1348740" y="8622030"/>
            <a:ext cx="11018520" cy="718566"/>
          </a:xfrm>
          <a:prstGeom prst="rect">
            <a:avLst/>
          </a:prstGeom>
        </p:spPr>
        <p:txBody>
          <a:bodyPr anchor="t" rtlCol="false" tIns="0" lIns="0" bIns="0" rIns="0">
            <a:spAutoFit/>
          </a:bodyPr>
          <a:lstStyle/>
          <a:p>
            <a:pPr algn="l">
              <a:lnSpc>
                <a:spcPts val="2520"/>
              </a:lnSpc>
            </a:pPr>
            <a:r>
              <a:rPr lang="en-US" sz="2100" b="true">
                <a:solidFill>
                  <a:srgbClr val="2D2D2D"/>
                </a:solidFill>
                <a:latin typeface="Trebuchet MS Bold"/>
                <a:ea typeface="Trebuchet MS Bold"/>
                <a:cs typeface="Trebuchet MS Bold"/>
                <a:sym typeface="Trebuchet MS Bold"/>
              </a:rPr>
              <a:t>Rabi uses the least water on average, while Zaid has the highest average water use.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grpSp>
        <p:nvGrpSpPr>
          <p:cNvPr name="Group 38" id="38"/>
          <p:cNvGrpSpPr/>
          <p:nvPr/>
        </p:nvGrpSpPr>
        <p:grpSpPr>
          <a:xfrm rot="0">
            <a:off x="1303020" y="2125980"/>
            <a:ext cx="10424160" cy="6446520"/>
            <a:chOff x="0" y="0"/>
            <a:chExt cx="13898880" cy="8595360"/>
          </a:xfrm>
        </p:grpSpPr>
        <p:sp>
          <p:nvSpPr>
            <p:cNvPr name="Freeform 39" id="39" descr="cell61_out1.png"/>
            <p:cNvSpPr/>
            <p:nvPr/>
          </p:nvSpPr>
          <p:spPr>
            <a:xfrm flipH="false" flipV="false" rot="0">
              <a:off x="0" y="0"/>
              <a:ext cx="13898880" cy="8595360"/>
            </a:xfrm>
            <a:custGeom>
              <a:avLst/>
              <a:gdLst/>
              <a:ahLst/>
              <a:cxnLst/>
              <a:rect r="r" b="b" t="t" l="l"/>
              <a:pathLst>
                <a:path h="8595360" w="13898880">
                  <a:moveTo>
                    <a:pt x="0" y="0"/>
                  </a:moveTo>
                  <a:lnTo>
                    <a:pt x="13898880" y="0"/>
                  </a:lnTo>
                  <a:lnTo>
                    <a:pt x="13898880" y="8595360"/>
                  </a:lnTo>
                  <a:lnTo>
                    <a:pt x="0" y="8595360"/>
                  </a:lnTo>
                  <a:lnTo>
                    <a:pt x="0" y="0"/>
                  </a:lnTo>
                  <a:close/>
                </a:path>
              </a:pathLst>
            </a:custGeom>
            <a:blipFill>
              <a:blip r:embed="rId4"/>
              <a:stretch>
                <a:fillRect l="-12864" t="0" r="-12864" b="0"/>
              </a:stretch>
            </a:blipFill>
          </p:spPr>
        </p:sp>
      </p:grpSp>
      <p:sp>
        <p:nvSpPr>
          <p:cNvPr name="TextBox 40" id="40"/>
          <p:cNvSpPr txBox="true"/>
          <p:nvPr/>
        </p:nvSpPr>
        <p:spPr>
          <a:xfrm rot="0">
            <a:off x="1348740" y="8622030"/>
            <a:ext cx="11018520" cy="718566"/>
          </a:xfrm>
          <a:prstGeom prst="rect">
            <a:avLst/>
          </a:prstGeom>
        </p:spPr>
        <p:txBody>
          <a:bodyPr anchor="t" rtlCol="false" tIns="0" lIns="0" bIns="0" rIns="0">
            <a:spAutoFit/>
          </a:bodyPr>
          <a:lstStyle/>
          <a:p>
            <a:pPr algn="l">
              <a:lnSpc>
                <a:spcPts val="2520"/>
              </a:lnSpc>
            </a:pPr>
            <a:r>
              <a:rPr lang="en-US" sz="2100" b="true">
                <a:solidFill>
                  <a:srgbClr val="2D2D2D"/>
                </a:solidFill>
                <a:latin typeface="Trebuchet MS Bold"/>
                <a:ea typeface="Trebuchet MS Bold"/>
                <a:cs typeface="Trebuchet MS Bold"/>
                <a:sym typeface="Trebuchet MS Bold"/>
              </a:rPr>
              <a:t>Sugarcane is the highest-yielding crop in all three seasons in the executed analysis.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82549"/>
            <a:ext cx="4289584" cy="1174109"/>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grpSp>
        <p:nvGrpSpPr>
          <p:cNvPr name="Group 38" id="38"/>
          <p:cNvGrpSpPr/>
          <p:nvPr/>
        </p:nvGrpSpPr>
        <p:grpSpPr>
          <a:xfrm rot="0">
            <a:off x="1303020" y="2125980"/>
            <a:ext cx="10424160" cy="6446520"/>
            <a:chOff x="0" y="0"/>
            <a:chExt cx="13898880" cy="8595360"/>
          </a:xfrm>
        </p:grpSpPr>
        <p:sp>
          <p:nvSpPr>
            <p:cNvPr name="Freeform 39" id="39" descr="cell63_out1.png"/>
            <p:cNvSpPr/>
            <p:nvPr/>
          </p:nvSpPr>
          <p:spPr>
            <a:xfrm flipH="false" flipV="false" rot="0">
              <a:off x="0" y="0"/>
              <a:ext cx="13898880" cy="8595360"/>
            </a:xfrm>
            <a:custGeom>
              <a:avLst/>
              <a:gdLst/>
              <a:ahLst/>
              <a:cxnLst/>
              <a:rect r="r" b="b" t="t" l="l"/>
              <a:pathLst>
                <a:path h="8595360" w="13898880">
                  <a:moveTo>
                    <a:pt x="0" y="0"/>
                  </a:moveTo>
                  <a:lnTo>
                    <a:pt x="13898880" y="0"/>
                  </a:lnTo>
                  <a:lnTo>
                    <a:pt x="13898880" y="8595360"/>
                  </a:lnTo>
                  <a:lnTo>
                    <a:pt x="0" y="8595360"/>
                  </a:lnTo>
                  <a:lnTo>
                    <a:pt x="0" y="0"/>
                  </a:lnTo>
                  <a:close/>
                </a:path>
              </a:pathLst>
            </a:custGeom>
            <a:blipFill>
              <a:blip r:embed="rId4"/>
              <a:stretch>
                <a:fillRect l="-12864" t="0" r="-12864" b="0"/>
              </a:stretch>
            </a:blipFill>
          </p:spPr>
        </p:sp>
      </p:grpSp>
      <p:sp>
        <p:nvSpPr>
          <p:cNvPr name="TextBox 40" id="40"/>
          <p:cNvSpPr txBox="true"/>
          <p:nvPr/>
        </p:nvSpPr>
        <p:spPr>
          <a:xfrm rot="0">
            <a:off x="1348740" y="8622030"/>
            <a:ext cx="11018520" cy="718566"/>
          </a:xfrm>
          <a:prstGeom prst="rect">
            <a:avLst/>
          </a:prstGeom>
        </p:spPr>
        <p:txBody>
          <a:bodyPr anchor="t" rtlCol="false" tIns="0" lIns="0" bIns="0" rIns="0">
            <a:spAutoFit/>
          </a:bodyPr>
          <a:lstStyle/>
          <a:p>
            <a:pPr algn="l">
              <a:lnSpc>
                <a:spcPts val="2520"/>
              </a:lnSpc>
            </a:pPr>
            <a:r>
              <a:rPr lang="en-US" sz="2100" b="true">
                <a:solidFill>
                  <a:srgbClr val="2D2D2D"/>
                </a:solidFill>
                <a:latin typeface="Trebuchet MS Bold"/>
                <a:ea typeface="Trebuchet MS Bold"/>
                <a:cs typeface="Trebuchet MS Bold"/>
                <a:sym typeface="Trebuchet MS Bold"/>
              </a:rPr>
              <a:t>Rainfed has the highest average water efficiency, while Drip has the highest average yield among irrigation methods.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497263" y="1459830"/>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Future scope</a:t>
            </a:r>
          </a:p>
        </p:txBody>
      </p:sp>
      <p:sp>
        <p:nvSpPr>
          <p:cNvPr name="TextBox 38" id="38"/>
          <p:cNvSpPr txBox="true"/>
          <p:nvPr/>
        </p:nvSpPr>
        <p:spPr>
          <a:xfrm rot="0">
            <a:off x="817645" y="3134935"/>
            <a:ext cx="12097512" cy="5202431"/>
          </a:xfrm>
          <a:prstGeom prst="rect">
            <a:avLst/>
          </a:prstGeom>
        </p:spPr>
        <p:txBody>
          <a:bodyPr anchor="t" rtlCol="false" tIns="0" lIns="0" bIns="0" rIns="0">
            <a:spAutoFit/>
          </a:bodyPr>
          <a:lstStyle/>
          <a:p>
            <a:pPr algn="l" marL="542925" indent="-271462" lvl="1">
              <a:lnSpc>
                <a:spcPts val="3600"/>
              </a:lnSpc>
              <a:buFont typeface="Arial"/>
              <a:buChar char="•"/>
            </a:pPr>
            <a:r>
              <a:rPr lang="en-US" sz="3000">
                <a:solidFill>
                  <a:srgbClr val="232323"/>
                </a:solidFill>
                <a:latin typeface="Trebuchet MS"/>
                <a:ea typeface="Trebuchet MS"/>
                <a:cs typeface="Trebuchet MS"/>
                <a:sym typeface="Trebuchet MS"/>
              </a:rPr>
              <a:t>Include additional years and wider regional coverage for stronger seasonal comparisons.</a:t>
            </a:r>
          </a:p>
          <a:p>
            <a:pPr algn="l" marL="542925" indent="-271462" lvl="1">
              <a:lnSpc>
                <a:spcPts val="3600"/>
              </a:lnSpc>
              <a:buFont typeface="Arial"/>
              <a:buChar char="•"/>
            </a:pPr>
            <a:r>
              <a:rPr lang="en-US" sz="3000">
                <a:solidFill>
                  <a:srgbClr val="232323"/>
                </a:solidFill>
                <a:latin typeface="Trebuchet MS"/>
                <a:ea typeface="Trebuchet MS"/>
                <a:cs typeface="Trebuchet MS"/>
                <a:sym typeface="Trebuchet MS"/>
              </a:rPr>
              <a:t>Add weather and soil observations from external sources for deeper seasonal analysis.</a:t>
            </a:r>
          </a:p>
          <a:p>
            <a:pPr algn="l" marL="542925" indent="-271462" lvl="1">
              <a:lnSpc>
                <a:spcPts val="3600"/>
              </a:lnSpc>
              <a:buFont typeface="Arial"/>
              <a:buChar char="•"/>
            </a:pPr>
            <a:r>
              <a:rPr lang="en-US" sz="3000">
                <a:solidFill>
                  <a:srgbClr val="232323"/>
                </a:solidFill>
                <a:latin typeface="Trebuchet MS"/>
                <a:ea typeface="Trebuchet MS"/>
                <a:cs typeface="Trebuchet MS"/>
                <a:sym typeface="Trebuchet MS"/>
              </a:rPr>
              <a:t>Extend the analysis with forecasting or predictive models when suitable data is available.</a:t>
            </a:r>
          </a:p>
          <a:p>
            <a:pPr algn="l" marL="542925" indent="-271462" lvl="1">
              <a:lnSpc>
                <a:spcPts val="3600"/>
              </a:lnSpc>
              <a:buFont typeface="Arial"/>
              <a:buChar char="•"/>
            </a:pPr>
            <a:r>
              <a:rPr lang="en-US" sz="3000">
                <a:solidFill>
                  <a:srgbClr val="232323"/>
                </a:solidFill>
                <a:latin typeface="Trebuchet MS"/>
                <a:ea typeface="Trebuchet MS"/>
                <a:cs typeface="Trebuchet MS"/>
                <a:sym typeface="Trebuchet MS"/>
              </a:rPr>
              <a:t>Develop an interactive dashboard to present seasonal indicators and comparisons.</a:t>
            </a:r>
          </a:p>
          <a:p>
            <a:pPr algn="l" marL="542925" indent="-271462" lvl="1">
              <a:lnSpc>
                <a:spcPts val="3600"/>
              </a:lnSpc>
              <a:buFont typeface="Arial"/>
              <a:buChar char="•"/>
            </a:pPr>
            <a:r>
              <a:rPr lang="en-US" sz="3000">
                <a:solidFill>
                  <a:srgbClr val="232323"/>
                </a:solidFill>
                <a:latin typeface="Trebuchet MS"/>
                <a:ea typeface="Trebuchet MS"/>
                <a:cs typeface="Trebuchet MS"/>
                <a:sym typeface="Trebuchet MS"/>
              </a:rPr>
              <a:t>Automate seasonal reports for regular agricultural planning and resource monitoring.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6920817" cy="1164584"/>
          </a:xfrm>
          <a:prstGeom prst="rect">
            <a:avLst/>
          </a:prstGeom>
        </p:spPr>
        <p:txBody>
          <a:bodyPr anchor="t" rtlCol="false" tIns="0" lIns="0" bIns="0" rIns="0">
            <a:spAutoFit/>
          </a:bodyPr>
          <a:lstStyle/>
          <a:p>
            <a:pPr algn="l">
              <a:lnSpc>
                <a:spcPts val="7200"/>
              </a:lnSpc>
            </a:pPr>
            <a:r>
              <a:rPr lang="en-US" sz="6000" b="true">
                <a:solidFill>
                  <a:srgbClr val="000000"/>
                </a:solidFill>
                <a:latin typeface="Trebuchet MS Bold"/>
                <a:ea typeface="Trebuchet MS Bold"/>
                <a:cs typeface="Trebuchet MS Bold"/>
                <a:sym typeface="Trebuchet MS Bold"/>
              </a:rPr>
              <a:t>GitHub Link</a:t>
            </a:r>
          </a:p>
        </p:txBody>
      </p:sp>
      <p:sp>
        <p:nvSpPr>
          <p:cNvPr name="TextBox 38" id="38"/>
          <p:cNvSpPr txBox="true"/>
          <p:nvPr/>
        </p:nvSpPr>
        <p:spPr>
          <a:xfrm rot="0">
            <a:off x="875214" y="3059049"/>
            <a:ext cx="8970454" cy="419100"/>
          </a:xfrm>
          <a:prstGeom prst="rect">
            <a:avLst/>
          </a:prstGeom>
        </p:spPr>
        <p:txBody>
          <a:bodyPr anchor="t" rtlCol="false" tIns="0" lIns="0" bIns="0" rIns="0">
            <a:spAutoFit/>
          </a:bodyPr>
          <a:lstStyle/>
          <a:p>
            <a:pPr algn="l">
              <a:lnSpc>
                <a:spcPts val="3240"/>
              </a:lnSpc>
            </a:pPr>
            <a:r>
              <a:rPr lang="en-US" sz="2700" u="sng">
                <a:solidFill>
                  <a:srgbClr val="3FCDE7"/>
                </a:solidFill>
                <a:latin typeface="Trebuchet MS"/>
                <a:ea typeface="Trebuchet MS"/>
                <a:cs typeface="Trebuchet MS"/>
                <a:sym typeface="Trebuchet MS"/>
              </a:rPr>
              <a:t>https://github.com/Mallikarjuna6126/Agriculture-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7" y="8045977"/>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p:spPr>
        </p:sp>
      </p:grpSp>
      <p:grpSp>
        <p:nvGrpSpPr>
          <p:cNvPr name="Group 31" id="31"/>
          <p:cNvGrpSpPr/>
          <p:nvPr/>
        </p:nvGrpSpPr>
        <p:grpSpPr>
          <a:xfrm rot="0">
            <a:off x="10039188" y="2549833"/>
            <a:ext cx="479622" cy="479622"/>
            <a:chOff x="0" y="0"/>
            <a:chExt cx="639496" cy="639496"/>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p:spPr>
        </p:sp>
      </p:grpSp>
      <p:grpSp>
        <p:nvGrpSpPr>
          <p:cNvPr name="Group 33" id="33"/>
          <p:cNvGrpSpPr/>
          <p:nvPr/>
        </p:nvGrpSpPr>
        <p:grpSpPr>
          <a:xfrm rot="0">
            <a:off x="14031687" y="8846610"/>
            <a:ext cx="269967" cy="269967"/>
            <a:chOff x="0" y="0"/>
            <a:chExt cx="359956" cy="359956"/>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p:spPr>
        </p:sp>
      </p:grpSp>
      <p:grpSp>
        <p:nvGrpSpPr>
          <p:cNvPr name="Group 35" id="35"/>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37" id="37"/>
          <p:cNvSpPr txBox="true"/>
          <p:nvPr/>
        </p:nvSpPr>
        <p:spPr>
          <a:xfrm rot="0">
            <a:off x="1105376" y="592074"/>
            <a:ext cx="12344200" cy="1245070"/>
          </a:xfrm>
          <a:prstGeom prst="rect">
            <a:avLst/>
          </a:prstGeom>
        </p:spPr>
        <p:txBody>
          <a:bodyPr anchor="t" rtlCol="false" tIns="0" lIns="0" bIns="0" rIns="0">
            <a:spAutoFit/>
          </a:bodyPr>
          <a:lstStyle/>
          <a:p>
            <a:pPr algn="l">
              <a:lnSpc>
                <a:spcPts val="5184"/>
              </a:lnSpc>
            </a:pPr>
            <a:r>
              <a:rPr lang="en-US" sz="4320" b="true">
                <a:solidFill>
                  <a:srgbClr val="000000"/>
                </a:solidFill>
                <a:latin typeface="Trebuchet MS Bold"/>
                <a:ea typeface="Trebuchet MS Bold"/>
                <a:cs typeface="Trebuchet MS Bold"/>
                <a:sym typeface="Trebuchet MS Bold"/>
              </a:rPr>
              <a:t>VOIS Course completion certificate - </a:t>
            </a:r>
          </a:p>
          <a:p>
            <a:pPr algn="l">
              <a:lnSpc>
                <a:spcPts val="5184"/>
              </a:lnSpc>
            </a:pPr>
            <a:r>
              <a:rPr lang="en-US" sz="4320" b="true">
                <a:solidFill>
                  <a:srgbClr val="000000"/>
                </a:solidFill>
                <a:latin typeface="Trebuchet MS Bold"/>
                <a:ea typeface="Trebuchet MS Bold"/>
                <a:cs typeface="Trebuchet MS Bold"/>
                <a:sym typeface="Trebuchet MS Bold"/>
              </a:rPr>
              <a:t>Course name- Data Visualization </a:t>
            </a:r>
          </a:p>
        </p:txBody>
      </p:sp>
      <p:grpSp>
        <p:nvGrpSpPr>
          <p:cNvPr name="Group 38" id="38"/>
          <p:cNvGrpSpPr/>
          <p:nvPr/>
        </p:nvGrpSpPr>
        <p:grpSpPr>
          <a:xfrm rot="0">
            <a:off x="2141372" y="2412616"/>
            <a:ext cx="9929136" cy="6950040"/>
            <a:chOff x="0" y="0"/>
            <a:chExt cx="13238848" cy="9266720"/>
          </a:xfrm>
        </p:grpSpPr>
        <p:sp>
          <p:nvSpPr>
            <p:cNvPr name="Freeform 39" id="39"/>
            <p:cNvSpPr/>
            <p:nvPr/>
          </p:nvSpPr>
          <p:spPr>
            <a:xfrm flipH="false" flipV="false" rot="0">
              <a:off x="0" y="0"/>
              <a:ext cx="13238862" cy="9266682"/>
            </a:xfrm>
            <a:custGeom>
              <a:avLst/>
              <a:gdLst/>
              <a:ahLst/>
              <a:cxnLst/>
              <a:rect r="r" b="b" t="t" l="l"/>
              <a:pathLst>
                <a:path h="9266682" w="13238862">
                  <a:moveTo>
                    <a:pt x="0" y="0"/>
                  </a:moveTo>
                  <a:lnTo>
                    <a:pt x="13238862" y="0"/>
                  </a:lnTo>
                  <a:lnTo>
                    <a:pt x="13238862" y="9266682"/>
                  </a:lnTo>
                  <a:lnTo>
                    <a:pt x="0" y="9266682"/>
                  </a:lnTo>
                  <a:lnTo>
                    <a:pt x="0" y="0"/>
                  </a:lnTo>
                  <a:close/>
                </a:path>
              </a:pathLst>
            </a:custGeom>
            <a:blipFill>
              <a:blip r:embed="rId2"/>
              <a:stretch>
                <a:fillRect l="-39807" t="0" r="-39807" b="0"/>
              </a:stretch>
            </a:blipFill>
          </p:spPr>
        </p:sp>
      </p:grpSp>
      <p:grpSp>
        <p:nvGrpSpPr>
          <p:cNvPr name="Group 40" id="40"/>
          <p:cNvGrpSpPr/>
          <p:nvPr/>
        </p:nvGrpSpPr>
        <p:grpSpPr>
          <a:xfrm rot="0">
            <a:off x="2068865" y="2378054"/>
            <a:ext cx="10300938" cy="7283492"/>
            <a:chOff x="0" y="0"/>
            <a:chExt cx="14256004" cy="10080003"/>
          </a:xfrm>
        </p:grpSpPr>
        <p:sp>
          <p:nvSpPr>
            <p:cNvPr name="Freeform 41" id="41"/>
            <p:cNvSpPr/>
            <p:nvPr/>
          </p:nvSpPr>
          <p:spPr>
            <a:xfrm flipH="false" flipV="false" rot="0">
              <a:off x="0" y="0"/>
              <a:ext cx="14256004" cy="10079990"/>
            </a:xfrm>
            <a:custGeom>
              <a:avLst/>
              <a:gdLst/>
              <a:ahLst/>
              <a:cxnLst/>
              <a:rect r="r" b="b" t="t" l="l"/>
              <a:pathLst>
                <a:path h="10079990" w="14256004">
                  <a:moveTo>
                    <a:pt x="0" y="0"/>
                  </a:moveTo>
                  <a:lnTo>
                    <a:pt x="14256004" y="0"/>
                  </a:lnTo>
                  <a:lnTo>
                    <a:pt x="14256004" y="10079990"/>
                  </a:lnTo>
                  <a:lnTo>
                    <a:pt x="0" y="10079990"/>
                  </a:lnTo>
                  <a:lnTo>
                    <a:pt x="0" y="0"/>
                  </a:lnTo>
                  <a:close/>
                </a:path>
              </a:pathLst>
            </a:custGeom>
            <a:blipFill>
              <a:blip r:embed="rId4"/>
              <a:stretch>
                <a:fillRect l="0" t="-271" r="0" b="-271"/>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7" y="-12697"/>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p:spPr>
        </p:sp>
      </p:grpSp>
      <p:grpSp>
        <p:nvGrpSpPr>
          <p:cNvPr name="Group 6" id="6"/>
          <p:cNvGrpSpPr/>
          <p:nvPr/>
        </p:nvGrpSpPr>
        <p:grpSpPr>
          <a:xfrm rot="0">
            <a:off x="14405162" y="-12697"/>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p:spPr>
        </p:sp>
      </p:grpSp>
      <p:grpSp>
        <p:nvGrpSpPr>
          <p:cNvPr name="Group 8" id="8"/>
          <p:cNvGrpSpPr/>
          <p:nvPr/>
        </p:nvGrpSpPr>
        <p:grpSpPr>
          <a:xfrm rot="0">
            <a:off x="13398503" y="4572000"/>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p:spPr>
        </p:sp>
      </p:grpSp>
      <p:grpSp>
        <p:nvGrpSpPr>
          <p:cNvPr name="Group 10" id="10"/>
          <p:cNvGrpSpPr/>
          <p:nvPr/>
        </p:nvGrpSpPr>
        <p:grpSpPr>
          <a:xfrm rot="0">
            <a:off x="14001750" y="-12697"/>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p:spPr>
        </p:sp>
      </p:grpSp>
      <p:grpSp>
        <p:nvGrpSpPr>
          <p:cNvPr name="Group 12" id="12"/>
          <p:cNvGrpSpPr/>
          <p:nvPr/>
        </p:nvGrpSpPr>
        <p:grpSpPr>
          <a:xfrm rot="0">
            <a:off x="16348091" y="-12697"/>
            <a:ext cx="1935137" cy="10299697"/>
            <a:chOff x="0" y="0"/>
            <a:chExt cx="2580183" cy="13732929"/>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p:spPr>
        </p:sp>
      </p:grpSp>
      <p:grpSp>
        <p:nvGrpSpPr>
          <p:cNvPr name="Group 14" id="14"/>
          <p:cNvGrpSpPr/>
          <p:nvPr/>
        </p:nvGrpSpPr>
        <p:grpSpPr>
          <a:xfrm rot="0">
            <a:off x="16408498" y="-12697"/>
            <a:ext cx="1874739" cy="10299697"/>
            <a:chOff x="0" y="0"/>
            <a:chExt cx="2499652" cy="13732929"/>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p:spPr>
        </p:sp>
      </p:grpSp>
      <p:grpSp>
        <p:nvGrpSpPr>
          <p:cNvPr name="Group 16" id="16"/>
          <p:cNvGrpSpPr/>
          <p:nvPr/>
        </p:nvGrpSpPr>
        <p:grpSpPr>
          <a:xfrm rot="0">
            <a:off x="15557497" y="5384797"/>
            <a:ext cx="2725741" cy="4902203"/>
            <a:chOff x="0" y="0"/>
            <a:chExt cx="3634321" cy="6536271"/>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p:spPr>
        </p:sp>
      </p:grpSp>
      <p:grpSp>
        <p:nvGrpSpPr>
          <p:cNvPr name="Group 18" id="18"/>
          <p:cNvGrpSpPr/>
          <p:nvPr/>
        </p:nvGrpSpPr>
        <p:grpSpPr>
          <a:xfrm rot="0">
            <a:off x="0" y="6019800"/>
            <a:ext cx="673103" cy="4267200"/>
            <a:chOff x="0" y="0"/>
            <a:chExt cx="897471"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p:spPr>
        </p:sp>
      </p:grpSp>
      <p:grpSp>
        <p:nvGrpSpPr>
          <p:cNvPr name="Group 20" id="20"/>
          <p:cNvGrpSpPr/>
          <p:nvPr/>
        </p:nvGrpSpPr>
        <p:grpSpPr>
          <a:xfrm rot="0">
            <a:off x="990590" y="9568358"/>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9/8/2026</a:t>
              </a:r>
            </a:p>
          </p:txBody>
        </p:sp>
      </p:grpSp>
      <p:grpSp>
        <p:nvGrpSpPr>
          <p:cNvPr name="Group 23" id="23"/>
          <p:cNvGrpSpPr/>
          <p:nvPr/>
        </p:nvGrpSpPr>
        <p:grpSpPr>
          <a:xfrm rot="0">
            <a:off x="2168290" y="9568358"/>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2">
                <a:alphaModFix amt="0"/>
              </a:blip>
              <a:stretch>
                <a:fillRect l="0" t="-169587" r="0" b="-169587"/>
              </a:stretch>
            </a:blip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3" y="9568358"/>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2">
                <a:alphaModFix amt="0"/>
              </a:blip>
              <a:stretch>
                <a:fillRect l="0" t="-96391" r="0" b="-96391"/>
              </a:stretch>
            </a:blip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820007" y="5201336"/>
            <a:ext cx="687400" cy="592588"/>
            <a:chOff x="0" y="0"/>
            <a:chExt cx="916534" cy="790118"/>
          </a:xfrm>
        </p:grpSpPr>
        <p:sp>
          <p:nvSpPr>
            <p:cNvPr name="Freeform 30" id="30"/>
            <p:cNvSpPr/>
            <p:nvPr/>
          </p:nvSpPr>
          <p:spPr>
            <a:xfrm flipH="false" flipV="false" rot="0">
              <a:off x="0" y="0"/>
              <a:ext cx="916559" cy="790067"/>
            </a:xfrm>
            <a:custGeom>
              <a:avLst/>
              <a:gdLst/>
              <a:ahLst/>
              <a:cxnLst/>
              <a:rect r="r" b="b" t="t" l="l"/>
              <a:pathLst>
                <a:path h="790067" w="916559">
                  <a:moveTo>
                    <a:pt x="0" y="395097"/>
                  </a:moveTo>
                  <a:lnTo>
                    <a:pt x="197485" y="0"/>
                  </a:lnTo>
                  <a:lnTo>
                    <a:pt x="718947" y="0"/>
                  </a:lnTo>
                  <a:lnTo>
                    <a:pt x="916559" y="395097"/>
                  </a:lnTo>
                  <a:lnTo>
                    <a:pt x="718947" y="790067"/>
                  </a:lnTo>
                  <a:lnTo>
                    <a:pt x="197485" y="790067"/>
                  </a:lnTo>
                  <a:close/>
                </a:path>
              </a:pathLst>
            </a:custGeom>
            <a:solidFill>
              <a:srgbClr val="5FCBEF"/>
            </a:solidFill>
          </p:spPr>
        </p:sp>
      </p:grpSp>
      <p:grpSp>
        <p:nvGrpSpPr>
          <p:cNvPr name="Group 31" id="31"/>
          <p:cNvGrpSpPr/>
          <p:nvPr/>
        </p:nvGrpSpPr>
        <p:grpSpPr>
          <a:xfrm rot="0">
            <a:off x="16670007" y="3592087"/>
            <a:ext cx="537591" cy="463439"/>
            <a:chOff x="0" y="0"/>
            <a:chExt cx="716788" cy="617918"/>
          </a:xfrm>
        </p:grpSpPr>
        <p:sp>
          <p:nvSpPr>
            <p:cNvPr name="Freeform 32" id="32"/>
            <p:cNvSpPr/>
            <p:nvPr/>
          </p:nvSpPr>
          <p:spPr>
            <a:xfrm flipH="false" flipV="false" rot="0">
              <a:off x="0" y="0"/>
              <a:ext cx="716788" cy="617855"/>
            </a:xfrm>
            <a:custGeom>
              <a:avLst/>
              <a:gdLst/>
              <a:ahLst/>
              <a:cxnLst/>
              <a:rect r="r" b="b" t="t" l="l"/>
              <a:pathLst>
                <a:path h="617855" w="716788">
                  <a:moveTo>
                    <a:pt x="0" y="308991"/>
                  </a:moveTo>
                  <a:lnTo>
                    <a:pt x="154432" y="0"/>
                  </a:lnTo>
                  <a:lnTo>
                    <a:pt x="562356" y="0"/>
                  </a:lnTo>
                  <a:lnTo>
                    <a:pt x="716788" y="308991"/>
                  </a:lnTo>
                  <a:lnTo>
                    <a:pt x="562356" y="617855"/>
                  </a:lnTo>
                  <a:lnTo>
                    <a:pt x="154432" y="617855"/>
                  </a:lnTo>
                  <a:close/>
                </a:path>
              </a:pathLst>
            </a:custGeom>
            <a:solidFill>
              <a:srgbClr val="2E83C3"/>
            </a:solidFill>
          </p:spPr>
        </p:sp>
      </p:grpSp>
      <p:grpSp>
        <p:nvGrpSpPr>
          <p:cNvPr name="Group 33" id="33"/>
          <p:cNvGrpSpPr/>
          <p:nvPr/>
        </p:nvGrpSpPr>
        <p:grpSpPr>
          <a:xfrm rot="0">
            <a:off x="16323974" y="3303299"/>
            <a:ext cx="346034" cy="298304"/>
            <a:chOff x="0" y="0"/>
            <a:chExt cx="461378" cy="397739"/>
          </a:xfrm>
        </p:grpSpPr>
        <p:sp>
          <p:nvSpPr>
            <p:cNvPr name="Freeform 34" id="34"/>
            <p:cNvSpPr/>
            <p:nvPr/>
          </p:nvSpPr>
          <p:spPr>
            <a:xfrm flipH="false" flipV="false" rot="0">
              <a:off x="0" y="0"/>
              <a:ext cx="461391" cy="397764"/>
            </a:xfrm>
            <a:custGeom>
              <a:avLst/>
              <a:gdLst/>
              <a:ahLst/>
              <a:cxnLst/>
              <a:rect r="r" b="b" t="t" l="l"/>
              <a:pathLst>
                <a:path h="397764" w="461391">
                  <a:moveTo>
                    <a:pt x="0" y="198882"/>
                  </a:moveTo>
                  <a:lnTo>
                    <a:pt x="99441" y="0"/>
                  </a:lnTo>
                  <a:lnTo>
                    <a:pt x="361950" y="0"/>
                  </a:lnTo>
                  <a:lnTo>
                    <a:pt x="461391" y="198882"/>
                  </a:lnTo>
                  <a:lnTo>
                    <a:pt x="361950" y="397764"/>
                  </a:lnTo>
                  <a:lnTo>
                    <a:pt x="99441" y="397764"/>
                  </a:lnTo>
                  <a:close/>
                </a:path>
              </a:pathLst>
            </a:custGeom>
            <a:solidFill>
              <a:srgbClr val="EBEBEB"/>
            </a:solidFill>
          </p:spPr>
        </p:sp>
      </p:grpSp>
      <p:grpSp>
        <p:nvGrpSpPr>
          <p:cNvPr name="Group 35" id="35"/>
          <p:cNvGrpSpPr/>
          <p:nvPr/>
        </p:nvGrpSpPr>
        <p:grpSpPr>
          <a:xfrm rot="0">
            <a:off x="-1308430" y="1136075"/>
            <a:ext cx="17010002" cy="1050169"/>
            <a:chOff x="0" y="0"/>
            <a:chExt cx="22680003" cy="1400226"/>
          </a:xfrm>
        </p:grpSpPr>
        <p:sp>
          <p:nvSpPr>
            <p:cNvPr name="Freeform 36" id="36"/>
            <p:cNvSpPr/>
            <p:nvPr/>
          </p:nvSpPr>
          <p:spPr>
            <a:xfrm flipH="false" flipV="false" rot="0">
              <a:off x="0" y="0"/>
              <a:ext cx="22680000" cy="1400228"/>
            </a:xfrm>
            <a:custGeom>
              <a:avLst/>
              <a:gdLst/>
              <a:ahLst/>
              <a:cxnLst/>
              <a:rect r="r" b="b" t="t" l="l"/>
              <a:pathLst>
                <a:path h="1400228" w="22680000">
                  <a:moveTo>
                    <a:pt x="0" y="0"/>
                  </a:moveTo>
                  <a:lnTo>
                    <a:pt x="22680000" y="0"/>
                  </a:lnTo>
                  <a:lnTo>
                    <a:pt x="22680000" y="1400228"/>
                  </a:lnTo>
                  <a:lnTo>
                    <a:pt x="0" y="1400228"/>
                  </a:lnTo>
                  <a:close/>
                </a:path>
              </a:pathLst>
            </a:custGeom>
            <a:blipFill>
              <a:blip r:embed="rId2">
                <a:alphaModFix amt="0"/>
              </a:blip>
              <a:stretch>
                <a:fillRect l="0" t="-265606" r="0" b="-265606"/>
              </a:stretch>
            </a:blipFill>
          </p:spPr>
        </p:sp>
        <p:sp>
          <p:nvSpPr>
            <p:cNvPr name="TextBox 37" id="37"/>
            <p:cNvSpPr txBox="true"/>
            <p:nvPr/>
          </p:nvSpPr>
          <p:spPr>
            <a:xfrm>
              <a:off x="0" y="-9525"/>
              <a:ext cx="22680003" cy="1409751"/>
            </a:xfrm>
            <a:prstGeom prst="rect">
              <a:avLst/>
            </a:prstGeom>
          </p:spPr>
          <p:txBody>
            <a:bodyPr anchor="ctr" rtlCol="false" tIns="0" lIns="0" bIns="0" rIns="0"/>
            <a:lstStyle/>
            <a:p>
              <a:pPr algn="ctr">
                <a:lnSpc>
                  <a:spcPts val="7776"/>
                </a:lnSpc>
              </a:pPr>
              <a:r>
                <a:rPr lang="en-US" sz="6480" b="true">
                  <a:solidFill>
                    <a:srgbClr val="000000"/>
                  </a:solidFill>
                  <a:latin typeface="Trebuchet MS Bold"/>
                  <a:ea typeface="Trebuchet MS Bold"/>
                  <a:cs typeface="Trebuchet MS Bold"/>
                  <a:sym typeface="Trebuchet MS Bold"/>
                </a:rPr>
                <a:t>Thank you</a:t>
              </a:r>
            </a:p>
          </p:txBody>
        </p:sp>
      </p:grpSp>
      <p:sp>
        <p:nvSpPr>
          <p:cNvPr name="TextBox 38" id="38"/>
          <p:cNvSpPr txBox="true"/>
          <p:nvPr/>
        </p:nvSpPr>
        <p:spPr>
          <a:xfrm rot="0">
            <a:off x="5683234"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name="TextBox 39" id="39"/>
          <p:cNvSpPr txBox="true"/>
          <p:nvPr/>
        </p:nvSpPr>
        <p:spPr>
          <a:xfrm rot="0">
            <a:off x="12978489" y="6999084"/>
            <a:ext cx="3026664" cy="1581036"/>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name="Group 40" id="40"/>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sp>
        <p:nvSpPr>
          <p:cNvPr name="TextBox 42" id="42"/>
          <p:cNvSpPr txBox="true"/>
          <p:nvPr/>
        </p:nvSpPr>
        <p:spPr>
          <a:xfrm rot="0">
            <a:off x="3637750" y="3365935"/>
            <a:ext cx="10456193" cy="2876550"/>
          </a:xfrm>
          <a:prstGeom prst="rect">
            <a:avLst/>
          </a:prstGeom>
        </p:spPr>
        <p:txBody>
          <a:bodyPr anchor="t" rtlCol="false" tIns="0" lIns="0" bIns="0" rIns="0">
            <a:spAutoFit/>
          </a:bodyPr>
          <a:lstStyle/>
          <a:p>
            <a:pPr algn="l" marL="488632" indent="-244316" lvl="1">
              <a:lnSpc>
                <a:spcPts val="3240"/>
              </a:lnSpc>
              <a:buFont typeface="Arial"/>
              <a:buChar char="•"/>
            </a:pPr>
            <a:r>
              <a:rPr lang="en-US" b="true" sz="2700">
                <a:solidFill>
                  <a:srgbClr val="000000"/>
                </a:solidFill>
                <a:latin typeface="Trebuchet MS Bold"/>
                <a:ea typeface="Trebuchet MS Bold"/>
                <a:cs typeface="Trebuchet MS Bold"/>
                <a:sym typeface="Trebuchet MS Bold"/>
              </a:rPr>
              <a:t>Seasonal Agriculture Performance Analysis</a:t>
            </a:r>
          </a:p>
          <a:p>
            <a:pPr algn="l" marL="488632" indent="-244316" lvl="1">
              <a:lnSpc>
                <a:spcPts val="3240"/>
              </a:lnSpc>
              <a:buFont typeface="Arial"/>
              <a:buChar char="•"/>
            </a:pPr>
            <a:r>
              <a:rPr lang="en-US" b="true" sz="2700" i="true">
                <a:solidFill>
                  <a:srgbClr val="000000"/>
                </a:solidFill>
                <a:latin typeface="Trebuchet MS Bold Italics"/>
                <a:ea typeface="Trebuchet MS Bold Italics"/>
                <a:cs typeface="Trebuchet MS Bold Italics"/>
                <a:sym typeface="Trebuchet MS Bold Italics"/>
              </a:rPr>
              <a:t>Understanding seasonal patterns, agricultural performance,</a:t>
            </a:r>
          </a:p>
          <a:p>
            <a:pPr algn="l" marL="488632" indent="-244316" lvl="1">
              <a:lnSpc>
                <a:spcPts val="3240"/>
              </a:lnSpc>
            </a:pPr>
            <a:r>
              <a:rPr lang="en-US" b="true" sz="2700" i="true">
                <a:solidFill>
                  <a:srgbClr val="000000"/>
                </a:solidFill>
                <a:latin typeface="Trebuchet MS Bold Italics"/>
                <a:ea typeface="Trebuchet MS Bold Italics"/>
                <a:cs typeface="Trebuchet MS Bold Italics"/>
                <a:sym typeface="Trebuchet MS Bold Italics"/>
              </a:rPr>
              <a:t>resource usage and data-driven insights</a:t>
            </a:r>
          </a:p>
          <a:p>
            <a:pPr algn="l" marL="488632" indent="-244316" lvl="1">
              <a:lnSpc>
                <a:spcPts val="3240"/>
              </a:lnSpc>
              <a:buFont typeface="Arial"/>
              <a:buChar char="•"/>
            </a:pPr>
            <a:r>
              <a:rPr lang="en-US" b="true" sz="2700">
                <a:solidFill>
                  <a:srgbClr val="000000"/>
                </a:solidFill>
                <a:latin typeface="Trebuchet MS Bold"/>
                <a:ea typeface="Trebuchet MS Bold"/>
                <a:cs typeface="Trebuchet MS Bold"/>
                <a:sym typeface="Trebuchet MS Bold"/>
              </a:rPr>
              <a:t>Presented by:</a:t>
            </a:r>
          </a:p>
          <a:p>
            <a:pPr algn="l" marL="488632" indent="-244316" lvl="1">
              <a:lnSpc>
                <a:spcPts val="3240"/>
              </a:lnSpc>
            </a:pPr>
            <a:r>
              <a:rPr lang="en-US" b="true" sz="2700">
                <a:solidFill>
                  <a:srgbClr val="000000"/>
                </a:solidFill>
                <a:latin typeface="Trebuchet MS Bold"/>
                <a:ea typeface="Trebuchet MS Bold"/>
                <a:cs typeface="Trebuchet MS Bold"/>
                <a:sym typeface="Trebuchet MS Bold"/>
              </a:rPr>
              <a:t>Rayana Mallikarjuna Durga Sai</a:t>
            </a:r>
          </a:p>
          <a:p>
            <a:pPr algn="l" marL="488632" indent="-244316" lvl="1">
              <a:lnSpc>
                <a:spcPts val="3240"/>
              </a:lnSpc>
            </a:pPr>
            <a:r>
              <a:rPr lang="en-US" b="true" sz="2700">
                <a:solidFill>
                  <a:srgbClr val="000000"/>
                </a:solidFill>
                <a:latin typeface="Trebuchet MS Bold"/>
                <a:ea typeface="Trebuchet MS Bold"/>
                <a:cs typeface="Trebuchet MS Bold"/>
                <a:sym typeface="Trebuchet MS Bold"/>
              </a:rPr>
              <a:t>Raghu Engineering College</a:t>
            </a:r>
          </a:p>
          <a:p>
            <a:pPr algn="l" marL="488632" indent="-244316" lvl="1">
              <a:lnSpc>
                <a:spcPts val="324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DAHUsQHI0AI</dc:identifier>
  <dcterms:modified xsi:type="dcterms:W3CDTF">2011-08-01T06:04:30Z</dcterms:modified>
  <cp:revision>1</cp:revision>
  <dc:title>Seasonal_Agriculture_Performance_Analysis_Major_Project_Presentation.pptx</dc:title>
</cp:coreProperties>
</file>